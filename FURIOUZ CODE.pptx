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8" r:id="rId1"/>
  </p:sldMasterIdLst>
  <p:notesMasterIdLst>
    <p:notesMasterId r:id="rId11"/>
  </p:notesMasterIdLst>
  <p:sldIdLst>
    <p:sldId id="263" r:id="rId2"/>
    <p:sldId id="257" r:id="rId3"/>
    <p:sldId id="258" r:id="rId4"/>
    <p:sldId id="259" r:id="rId5"/>
    <p:sldId id="260" r:id="rId6"/>
    <p:sldId id="261" r:id="rId7"/>
    <p:sldId id="266" r:id="rId8"/>
    <p:sldId id="265" r:id="rId9"/>
    <p:sldId id="267" r:id="rId10"/>
  </p:sldIdLst>
  <p:sldSz cx="18288000" cy="10287000"/>
  <p:notesSz cx="6858000" cy="9144000"/>
  <p:embeddedFontLst>
    <p:embeddedFont>
      <p:font typeface="Arimo Bold" panose="020B0604020202020204" charset="0"/>
      <p:regular r:id="rId12"/>
    </p:embeddedFont>
    <p:embeddedFont>
      <p:font typeface="Canva Sans Bold" panose="020B0604020202020204" charset="0"/>
      <p:regular r:id="rId13"/>
    </p:embeddedFont>
    <p:embeddedFont>
      <p:font typeface="Century Gothic" panose="020B0502020202020204" pitchFamily="34" charset="0"/>
      <p:regular r:id="rId14"/>
      <p:bold r:id="rId15"/>
      <p:italic r:id="rId16"/>
      <p:boldItalic r:id="rId17"/>
    </p:embeddedFont>
    <p:embeddedFont>
      <p:font typeface="Dynamo Condensed Bold" panose="020B0604020202020204" charset="0"/>
      <p:regular r:id="rId18"/>
    </p:embeddedFont>
    <p:embeddedFont>
      <p:font typeface="Times New Roman Bold" panose="02020803070505020304" pitchFamily="18" charset="0"/>
      <p:regular r:id="rId19"/>
      <p:bold r:id="rId20"/>
    </p:embeddedFont>
    <p:embeddedFont>
      <p:font typeface="Wingdings 3" panose="05040102010807070707" pitchFamily="18" charset="2"/>
      <p:regular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12" autoAdjust="0"/>
    <p:restoredTop sz="94622" autoAdjust="0"/>
  </p:normalViewPr>
  <p:slideViewPr>
    <p:cSldViewPr>
      <p:cViewPr varScale="1">
        <p:scale>
          <a:sx n="56" d="100"/>
          <a:sy n="56" d="100"/>
        </p:scale>
        <p:origin x="51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6A62F5-9DE8-4993-87CF-6310CB6D4ACE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B8A0A74-5BA1-4016-9B9F-41A99A5CE788}">
      <dgm:prSet/>
      <dgm:spPr/>
      <dgm:t>
        <a:bodyPr/>
        <a:lstStyle/>
        <a:p>
          <a:r>
            <a:rPr lang="en-US" b="1" i="0" dirty="0">
              <a:solidFill>
                <a:schemeClr val="accent5">
                  <a:lumMod val="40000"/>
                  <a:lumOff val="60000"/>
                </a:schemeClr>
              </a:solidFill>
            </a:rPr>
            <a:t>EMERGENCY VEHICLE PASSING </a:t>
          </a:r>
          <a:endParaRPr lang="en-IN" dirty="0">
            <a:solidFill>
              <a:schemeClr val="accent5">
                <a:lumMod val="40000"/>
                <a:lumOff val="60000"/>
              </a:schemeClr>
            </a:solidFill>
          </a:endParaRPr>
        </a:p>
      </dgm:t>
    </dgm:pt>
    <dgm:pt modelId="{DAA472FE-BBC0-42EB-88CB-BC794C6BDC74}" type="parTrans" cxnId="{5E17B15C-A7A8-4973-977D-24D71DA242E2}">
      <dgm:prSet/>
      <dgm:spPr/>
      <dgm:t>
        <a:bodyPr/>
        <a:lstStyle/>
        <a:p>
          <a:endParaRPr lang="en-IN"/>
        </a:p>
      </dgm:t>
    </dgm:pt>
    <dgm:pt modelId="{4A8FB422-34BA-43B8-BBAE-2765160A3DC8}" type="sibTrans" cxnId="{5E17B15C-A7A8-4973-977D-24D71DA242E2}">
      <dgm:prSet/>
      <dgm:spPr/>
      <dgm:t>
        <a:bodyPr/>
        <a:lstStyle/>
        <a:p>
          <a:endParaRPr lang="en-IN"/>
        </a:p>
      </dgm:t>
    </dgm:pt>
    <dgm:pt modelId="{A116E204-56EB-4272-A1C7-836F913C43C6}" type="pres">
      <dgm:prSet presAssocID="{E76A62F5-9DE8-4993-87CF-6310CB6D4ACE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DF28F0F5-4A90-409C-9A51-6DF9FB2FCF32}" type="pres">
      <dgm:prSet presAssocID="{4B8A0A74-5BA1-4016-9B9F-41A99A5CE788}" presName="horFlow" presStyleCnt="0"/>
      <dgm:spPr/>
    </dgm:pt>
    <dgm:pt modelId="{91CA4A0A-5AEA-4904-B3CF-2871062A36AB}" type="pres">
      <dgm:prSet presAssocID="{4B8A0A74-5BA1-4016-9B9F-41A99A5CE788}" presName="bigChev" presStyleLbl="node1" presStyleIdx="0" presStyleCnt="1" custScaleX="133529" custScaleY="100049" custLinFactNeighborX="2433" custLinFactNeighborY="-79189"/>
      <dgm:spPr/>
    </dgm:pt>
  </dgm:ptLst>
  <dgm:cxnLst>
    <dgm:cxn modelId="{5E17B15C-A7A8-4973-977D-24D71DA242E2}" srcId="{E76A62F5-9DE8-4993-87CF-6310CB6D4ACE}" destId="{4B8A0A74-5BA1-4016-9B9F-41A99A5CE788}" srcOrd="0" destOrd="0" parTransId="{DAA472FE-BBC0-42EB-88CB-BC794C6BDC74}" sibTransId="{4A8FB422-34BA-43B8-BBAE-2765160A3DC8}"/>
    <dgm:cxn modelId="{CE0649AD-2D68-4C12-B9A2-3093F88401F8}" type="presOf" srcId="{E76A62F5-9DE8-4993-87CF-6310CB6D4ACE}" destId="{A116E204-56EB-4272-A1C7-836F913C43C6}" srcOrd="0" destOrd="0" presId="urn:microsoft.com/office/officeart/2005/8/layout/lProcess3"/>
    <dgm:cxn modelId="{7A0FA1C7-EB9D-4A54-8E1B-865657260C50}" type="presOf" srcId="{4B8A0A74-5BA1-4016-9B9F-41A99A5CE788}" destId="{91CA4A0A-5AEA-4904-B3CF-2871062A36AB}" srcOrd="0" destOrd="0" presId="urn:microsoft.com/office/officeart/2005/8/layout/lProcess3"/>
    <dgm:cxn modelId="{B0106BDF-7B02-4611-BE7C-DB45F7B8FD2D}" type="presParOf" srcId="{A116E204-56EB-4272-A1C7-836F913C43C6}" destId="{DF28F0F5-4A90-409C-9A51-6DF9FB2FCF32}" srcOrd="0" destOrd="0" presId="urn:microsoft.com/office/officeart/2005/8/layout/lProcess3"/>
    <dgm:cxn modelId="{EA7999D3-613F-484B-BC6E-7EECD975AB5A}" type="presParOf" srcId="{DF28F0F5-4A90-409C-9A51-6DF9FB2FCF32}" destId="{91CA4A0A-5AEA-4904-B3CF-2871062A36AB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CA4A0A-5AEA-4904-B3CF-2871062A36AB}">
      <dsp:nvSpPr>
        <dsp:cNvPr id="0" name=""/>
        <dsp:cNvSpPr/>
      </dsp:nvSpPr>
      <dsp:spPr>
        <a:xfrm>
          <a:off x="5819" y="0"/>
          <a:ext cx="5096405" cy="15274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0" tIns="22225" rIns="0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i="0" kern="1200" dirty="0">
              <a:solidFill>
                <a:schemeClr val="accent5">
                  <a:lumMod val="40000"/>
                  <a:lumOff val="60000"/>
                </a:schemeClr>
              </a:solidFill>
            </a:rPr>
            <a:t>EMERGENCY VEHICLE PASSING </a:t>
          </a:r>
          <a:endParaRPr lang="en-IN" sz="3500" kern="1200" dirty="0">
            <a:solidFill>
              <a:schemeClr val="accent5">
                <a:lumMod val="40000"/>
                <a:lumOff val="60000"/>
              </a:schemeClr>
            </a:solidFill>
          </a:endParaRPr>
        </a:p>
      </dsp:txBody>
      <dsp:txXfrm>
        <a:off x="769534" y="0"/>
        <a:ext cx="3568976" cy="15274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2433" y="2171701"/>
            <a:ext cx="13238487" cy="4994372"/>
          </a:xfrm>
        </p:spPr>
        <p:txBody>
          <a:bodyPr anchor="b"/>
          <a:lstStyle>
            <a:lvl1pPr>
              <a:defRPr sz="10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2433" y="7166070"/>
            <a:ext cx="13238487" cy="129213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119606"/>
      </p:ext>
    </p:extLst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35484"/>
      </p:ext>
    </p:extLst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5" y="4292600"/>
            <a:ext cx="13238486" cy="2873471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3" y="7166072"/>
            <a:ext cx="13238487" cy="1290600"/>
          </a:xfrm>
        </p:spPr>
        <p:txBody>
          <a:bodyPr anchor="t"/>
          <a:lstStyle>
            <a:lvl1pPr marL="0" indent="0" algn="l">
              <a:buNone/>
              <a:defRPr sz="3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8657"/>
      </p:ext>
    </p:extLst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54969" y="3090863"/>
            <a:ext cx="6594509" cy="6293645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81740" y="3084139"/>
            <a:ext cx="6594512" cy="6300368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685266"/>
      </p:ext>
    </p:extLst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4970" y="2857500"/>
            <a:ext cx="659450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4969" y="3771900"/>
            <a:ext cx="6594509" cy="5612607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481743" y="2857500"/>
            <a:ext cx="6594509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481743" y="3771900"/>
            <a:ext cx="6594509" cy="5612607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05504"/>
      </p:ext>
    </p:extLst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538157"/>
      </p:ext>
    </p:extLst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38422"/>
      </p:ext>
    </p:extLst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0" y="2171700"/>
            <a:ext cx="5101596" cy="2171700"/>
          </a:xfrm>
        </p:spPr>
        <p:txBody>
          <a:bodyPr anchor="b"/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6925" y="2171700"/>
            <a:ext cx="7793996" cy="6858000"/>
          </a:xfrm>
        </p:spPr>
        <p:txBody>
          <a:bodyPr anchor="ctr">
            <a:normAutofit/>
          </a:bodyPr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0" y="4693921"/>
            <a:ext cx="5101595" cy="4343399"/>
          </a:xfrm>
        </p:spPr>
        <p:txBody>
          <a:bodyPr/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9616"/>
      </p:ext>
    </p:extLst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0861" y="2781288"/>
            <a:ext cx="7639359" cy="2362212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24319" y="1714500"/>
            <a:ext cx="4800600" cy="6858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5486400"/>
            <a:ext cx="7627469" cy="2057400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94753"/>
      </p:ext>
    </p:extLst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5" y="7200880"/>
            <a:ext cx="13238486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32433" y="1028700"/>
            <a:ext cx="13238487" cy="546099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4" y="8050988"/>
            <a:ext cx="13238484" cy="74056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86437"/>
      </p:ext>
    </p:extLst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2171700"/>
            <a:ext cx="13238489" cy="2971800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5486400"/>
            <a:ext cx="13238489" cy="3543300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242372"/>
      </p:ext>
    </p:extLst>
  </p:cSld>
  <p:clrMapOvr>
    <a:masterClrMapping/>
  </p:clrMapOvr>
  <p:transition spd="slow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2" y="2171700"/>
            <a:ext cx="11998973" cy="3485061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2895601" y="5656761"/>
            <a:ext cx="10919474" cy="51326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1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6525986"/>
            <a:ext cx="13238489" cy="2514600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347443" y="1456880"/>
            <a:ext cx="1202868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83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5735" y="3920681"/>
            <a:ext cx="1202868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83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890208"/>
      </p:ext>
    </p:extLst>
  </p:cSld>
  <p:clrMapOvr>
    <a:masterClrMapping/>
  </p:clrMapOvr>
  <p:transition spd="slow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1" y="4686302"/>
            <a:ext cx="13238490" cy="2479770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2" y="7166072"/>
            <a:ext cx="13238489" cy="1290600"/>
          </a:xfrm>
        </p:spPr>
        <p:txBody>
          <a:bodyPr anchor="t"/>
          <a:lstStyle>
            <a:lvl1pPr marL="0" indent="0" algn="l">
              <a:buNone/>
              <a:defRPr sz="3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48053"/>
      </p:ext>
    </p:extLst>
  </p:cSld>
  <p:clrMapOvr>
    <a:masterClrMapping/>
  </p:clrMapOvr>
  <p:transition spd="slow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9421" y="2971800"/>
            <a:ext cx="4420299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978695" y="4000500"/>
            <a:ext cx="4391025" cy="5384007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5489" y="2971800"/>
            <a:ext cx="4404362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5809659" y="4000500"/>
            <a:ext cx="4420191" cy="5384007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687051" y="2971800"/>
            <a:ext cx="4398170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10687051" y="4000500"/>
            <a:ext cx="4398170" cy="5384007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589213" y="3200400"/>
            <a:ext cx="0" cy="59436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443341" y="3200400"/>
            <a:ext cx="0" cy="5950323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269575"/>
      </p:ext>
    </p:extLst>
  </p:cSld>
  <p:clrMapOvr>
    <a:masterClrMapping/>
  </p:clrMapOvr>
  <p:transition spd="slow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8695" y="6376424"/>
            <a:ext cx="441007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78695" y="3314700"/>
            <a:ext cx="4410075" cy="228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978695" y="7240817"/>
            <a:ext cx="4410075" cy="98878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4063" y="6376424"/>
            <a:ext cx="4395788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834062" y="3314700"/>
            <a:ext cx="4395788" cy="228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5832033" y="7240816"/>
            <a:ext cx="4401609" cy="98878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687051" y="6376424"/>
            <a:ext cx="4398170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0687049" y="3314700"/>
            <a:ext cx="4398170" cy="228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10686863" y="7240813"/>
            <a:ext cx="4403996" cy="98878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5589213" y="3200400"/>
            <a:ext cx="0" cy="59436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443341" y="3200400"/>
            <a:ext cx="0" cy="5950323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499460"/>
      </p:ext>
    </p:extLst>
  </p:cSld>
  <p:clrMapOvr>
    <a:masterClrMapping/>
  </p:clrMapOvr>
  <p:transition spd="slow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30198"/>
      </p:ext>
    </p:extLst>
  </p:cSld>
  <p:clrMapOvr>
    <a:masterClrMapping/>
  </p:clrMapOvr>
  <p:transition spd="slow">
    <p:randomBar dir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56319" y="645320"/>
            <a:ext cx="2628902" cy="8739188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8695" y="1331121"/>
            <a:ext cx="11134724" cy="80533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092348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4004528"/>
            <a:ext cx="6055518" cy="62824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4338521"/>
            <a:ext cx="2283618" cy="354818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2913518" y="2514600"/>
            <a:ext cx="4229100" cy="42291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1999119" y="1"/>
            <a:ext cx="2405081" cy="171211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2908817" y="9144000"/>
            <a:ext cx="1490601" cy="1143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9167" y="679077"/>
            <a:ext cx="14107085" cy="21007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4969" y="3079378"/>
            <a:ext cx="13419812" cy="62932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5233459" y="2686052"/>
            <a:ext cx="1485899" cy="4571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65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3427360" y="4837946"/>
            <a:ext cx="5789693" cy="4572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5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5528811" y="443594"/>
            <a:ext cx="1257299" cy="11515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2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973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ransition spd="slow">
    <p:randomBar dir="vert"/>
  </p:transition>
  <p:txStyles>
    <p:titleStyle>
      <a:lvl1pPr algn="l" defTabSz="685800" rtl="0" eaLnBrk="1" latinLnBrk="0" hangingPunct="1">
        <a:spcBef>
          <a:spcPct val="0"/>
        </a:spcBef>
        <a:buNone/>
        <a:defRPr sz="63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3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7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37590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B3E9B-B67E-B7E7-807D-6DC3F78987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098" y="1638300"/>
            <a:ext cx="13238487" cy="2022572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  <a:highlight>
                  <a:srgbClr val="00FFFF"/>
                </a:highlight>
              </a:rPr>
              <a:t>WELCOME</a:t>
            </a:r>
            <a:endParaRPr lang="en-IN" dirty="0">
              <a:solidFill>
                <a:schemeClr val="accent2">
                  <a:lumMod val="75000"/>
                </a:schemeClr>
              </a:solidFill>
              <a:highlight>
                <a:srgbClr val="00FFFF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103B62-EECC-F72D-680C-2855ECCED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4756" y="4805598"/>
            <a:ext cx="13238487" cy="1292130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tx2">
                    <a:lumMod val="10000"/>
                  </a:schemeClr>
                </a:solidFill>
                <a:highlight>
                  <a:srgbClr val="FFFF00"/>
                </a:highlight>
              </a:rPr>
              <a:t>AI TRAFFIC MANAGEMENT</a:t>
            </a:r>
            <a:endParaRPr lang="en-IN" sz="7200" dirty="0">
              <a:solidFill>
                <a:schemeClr val="tx2">
                  <a:lumMod val="1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7FAA0C-2C9C-F376-D3FB-737B8C41AB2B}"/>
              </a:ext>
            </a:extLst>
          </p:cNvPr>
          <p:cNvSpPr txBox="1"/>
          <p:nvPr/>
        </p:nvSpPr>
        <p:spPr>
          <a:xfrm>
            <a:off x="11506200" y="7353300"/>
            <a:ext cx="9144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u="sng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KATHIRAVAN.E BE.CSE</a:t>
            </a:r>
          </a:p>
          <a:p>
            <a:r>
              <a:rPr lang="en-US" sz="3600" u="sng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MAHENDRA INSTITUTION OF TECHNOLOGY</a:t>
            </a:r>
            <a:endParaRPr lang="en-IN" sz="3600" u="sng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D71A27-8401-8A9C-B5EE-2D02525B4AD9}"/>
              </a:ext>
            </a:extLst>
          </p:cNvPr>
          <p:cNvSpPr txBox="1"/>
          <p:nvPr/>
        </p:nvSpPr>
        <p:spPr>
          <a:xfrm>
            <a:off x="304800" y="8039100"/>
            <a:ext cx="7696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JOSVA.M BE.CSE</a:t>
            </a:r>
          </a:p>
          <a:p>
            <a:r>
              <a:rPr lang="en-US" sz="3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MAHENDRA INSTITUTION OF TECHNOLOGY</a:t>
            </a:r>
            <a:endParaRPr lang="en-IN" sz="32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4875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>
            <a:off x="1433552" y="1845676"/>
            <a:ext cx="6558935" cy="3139468"/>
          </a:xfrm>
          <a:custGeom>
            <a:avLst/>
            <a:gdLst/>
            <a:ahLst/>
            <a:cxnLst/>
            <a:rect l="l" t="t" r="r" b="b"/>
            <a:pathLst>
              <a:path w="6558935" h="3139468">
                <a:moveTo>
                  <a:pt x="0" y="0"/>
                </a:moveTo>
                <a:lnTo>
                  <a:pt x="6558936" y="0"/>
                </a:lnTo>
                <a:lnTo>
                  <a:pt x="6558936" y="3139469"/>
                </a:lnTo>
                <a:lnTo>
                  <a:pt x="0" y="3139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87" t="-11621" b="-11621"/>
            </a:stretch>
          </a:blip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sp>
      <p:sp>
        <p:nvSpPr>
          <p:cNvPr id="10" name="Freeform 10"/>
          <p:cNvSpPr/>
          <p:nvPr/>
        </p:nvSpPr>
        <p:spPr>
          <a:xfrm>
            <a:off x="1433552" y="5271987"/>
            <a:ext cx="6558935" cy="3986313"/>
          </a:xfrm>
          <a:custGeom>
            <a:avLst/>
            <a:gdLst/>
            <a:ahLst/>
            <a:cxnLst/>
            <a:rect l="l" t="t" r="r" b="b"/>
            <a:pathLst>
              <a:path w="6558935" h="3986313">
                <a:moveTo>
                  <a:pt x="0" y="0"/>
                </a:moveTo>
                <a:lnTo>
                  <a:pt x="6558936" y="0"/>
                </a:lnTo>
                <a:lnTo>
                  <a:pt x="6558936" y="3986313"/>
                </a:lnTo>
                <a:lnTo>
                  <a:pt x="0" y="3986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7429" r="-8479" b="-17429"/>
            </a:stretch>
          </a:blip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sp>
      <p:sp>
        <p:nvSpPr>
          <p:cNvPr id="12" name="TextBox 12"/>
          <p:cNvSpPr txBox="1"/>
          <p:nvPr/>
        </p:nvSpPr>
        <p:spPr>
          <a:xfrm>
            <a:off x="13197840" y="9561200"/>
            <a:ext cx="4084320" cy="475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75046" y="599018"/>
            <a:ext cx="6011814" cy="77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51"/>
              </a:lnSpc>
            </a:pPr>
            <a:r>
              <a:rPr lang="en-US" sz="4536" b="1" dirty="0">
                <a:solidFill>
                  <a:schemeClr val="accent2">
                    <a:lumMod val="75000"/>
                  </a:schemeClr>
                </a:solidFill>
                <a:highlight>
                  <a:srgbClr val="000080"/>
                </a:highlight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59020" y="2157369"/>
            <a:ext cx="10155876" cy="1988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1"/>
              </a:lnSpc>
            </a:pPr>
            <a:endParaRPr lang="en-US" sz="3600" dirty="0">
              <a:sym typeface="Canva Sans Bold"/>
            </a:endParaRPr>
          </a:p>
          <a:p>
            <a:pPr marL="571500" indent="-571500" algn="ctr">
              <a:lnSpc>
                <a:spcPts val="5251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6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Tamilnadu</a:t>
            </a:r>
            <a:r>
              <a:rPr lang="en-US" sz="3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population 72,147,030 </a:t>
            </a:r>
          </a:p>
          <a:p>
            <a:pPr algn="ctr">
              <a:lnSpc>
                <a:spcPts val="5251"/>
              </a:lnSpc>
            </a:pPr>
            <a:endParaRPr lang="en-US" sz="36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297748" y="3800356"/>
            <a:ext cx="10287000" cy="1313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28700" lvl="1" indent="-571500" algn="ctr">
              <a:lnSpc>
                <a:spcPts val="5264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</a:t>
            </a:r>
            <a:r>
              <a:rPr lang="en-US" sz="32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india</a:t>
            </a: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population 141.72 </a:t>
            </a:r>
            <a:r>
              <a:rPr lang="en-US" sz="32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croes</a:t>
            </a: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(2022)</a:t>
            </a:r>
          </a:p>
          <a:p>
            <a:pPr algn="ctr">
              <a:lnSpc>
                <a:spcPts val="5264"/>
              </a:lnSpc>
            </a:pPr>
            <a:endParaRPr lang="en-US" sz="376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223190" y="4718844"/>
            <a:ext cx="9422409" cy="732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44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vehicle user is 90,640,000(2022)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67600" y="5788206"/>
            <a:ext cx="9947296" cy="1501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41"/>
              </a:lnSpc>
            </a:pPr>
            <a:r>
              <a:rPr lang="en-US" sz="4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In </a:t>
            </a:r>
            <a:r>
              <a:rPr lang="en-US" sz="40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tamilnadu</a:t>
            </a:r>
            <a:r>
              <a:rPr lang="en-US" sz="4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338lakh vehicle was</a:t>
            </a:r>
          </a:p>
          <a:p>
            <a:pPr algn="ctr">
              <a:lnSpc>
                <a:spcPts val="6141"/>
              </a:lnSpc>
            </a:pPr>
            <a:r>
              <a:rPr lang="en-US" sz="4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registered at (2022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92488" y="7805798"/>
            <a:ext cx="8707376" cy="874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Two wheeler users 285.24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>
            <a:off x="1028700" y="3188596"/>
            <a:ext cx="3676018" cy="6069704"/>
          </a:xfrm>
          <a:custGeom>
            <a:avLst/>
            <a:gdLst/>
            <a:ahLst/>
            <a:cxnLst/>
            <a:rect l="l" t="t" r="r" b="b"/>
            <a:pathLst>
              <a:path w="3676018" h="6069704">
                <a:moveTo>
                  <a:pt x="0" y="0"/>
                </a:moveTo>
                <a:lnTo>
                  <a:pt x="3676018" y="0"/>
                </a:lnTo>
                <a:lnTo>
                  <a:pt x="3676018" y="6069704"/>
                </a:lnTo>
                <a:lnTo>
                  <a:pt x="0" y="6069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sp>
      <p:sp>
        <p:nvSpPr>
          <p:cNvPr id="10" name="Freeform 10"/>
          <p:cNvSpPr/>
          <p:nvPr/>
        </p:nvSpPr>
        <p:spPr>
          <a:xfrm>
            <a:off x="5293435" y="3188596"/>
            <a:ext cx="6393425" cy="6069704"/>
          </a:xfrm>
          <a:custGeom>
            <a:avLst/>
            <a:gdLst/>
            <a:ahLst/>
            <a:cxnLst/>
            <a:rect l="l" t="t" r="r" b="b"/>
            <a:pathLst>
              <a:path w="6393425" h="6069704">
                <a:moveTo>
                  <a:pt x="0" y="0"/>
                </a:moveTo>
                <a:lnTo>
                  <a:pt x="6393425" y="0"/>
                </a:lnTo>
                <a:lnTo>
                  <a:pt x="6393425" y="6069704"/>
                </a:lnTo>
                <a:lnTo>
                  <a:pt x="0" y="60697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342" r="-44890"/>
            </a:stretch>
          </a:blip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sp>
      <p:sp>
        <p:nvSpPr>
          <p:cNvPr id="13" name="TextBox 13"/>
          <p:cNvSpPr txBox="1"/>
          <p:nvPr/>
        </p:nvSpPr>
        <p:spPr>
          <a:xfrm>
            <a:off x="13197840" y="9561200"/>
            <a:ext cx="4084320" cy="475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57660" y="264539"/>
            <a:ext cx="11372678" cy="134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7857" b="1" dirty="0">
                <a:solidFill>
                  <a:schemeClr val="accent2">
                    <a:lumMod val="75000"/>
                  </a:schemeClr>
                </a:solidFill>
                <a:highlight>
                  <a:srgbClr val="000080"/>
                </a:highlight>
                <a:latin typeface="Canva Sans Bold"/>
                <a:ea typeface="Canva Sans Bold"/>
                <a:cs typeface="Canva Sans Bold"/>
                <a:sym typeface="Canva Sans Bold"/>
              </a:rPr>
              <a:t>PROBLEM STATEMENT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33552" y="2301501"/>
            <a:ext cx="2245519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C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OLDER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63740" y="2301501"/>
            <a:ext cx="274947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C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EARLIER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82304" y="3009900"/>
            <a:ext cx="6393425" cy="1093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ctr">
              <a:lnSpc>
                <a:spcPts val="435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People can use vehicle travel </a:t>
            </a:r>
          </a:p>
          <a:p>
            <a:pPr algn="ctr">
              <a:lnSpc>
                <a:spcPts val="4350"/>
              </a:lnSpc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one place to another place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90902" y="4309055"/>
            <a:ext cx="6897098" cy="16268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ctr">
              <a:lnSpc>
                <a:spcPts val="4262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 older days we can see less amount of vehicle but now we see lacks of vehicle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01400" y="6133306"/>
            <a:ext cx="7417695" cy="16503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ctr">
              <a:lnSpc>
                <a:spcPts val="4302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 older days house can have maximum 2 or 3 vehicles </a:t>
            </a:r>
          </a:p>
          <a:p>
            <a:pPr algn="ctr">
              <a:lnSpc>
                <a:spcPts val="4302"/>
              </a:lnSpc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but now we can see more then 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96600" y="7783606"/>
            <a:ext cx="6873196" cy="11831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ctr">
              <a:lnSpc>
                <a:spcPts val="4822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Lots of vehicle can run </a:t>
            </a:r>
          </a:p>
          <a:p>
            <a:pPr algn="ctr">
              <a:lnSpc>
                <a:spcPts val="4822"/>
              </a:lnSpc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the road it cause traffic 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020" y="1845778"/>
            <a:ext cx="17967960" cy="7937094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70" b="-370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05840" y="271462"/>
            <a:ext cx="16276320" cy="787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highlight>
                  <a:srgbClr val="000080"/>
                </a:highlight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97840" y="9561200"/>
            <a:ext cx="4084320" cy="475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50842" y="888620"/>
            <a:ext cx="790602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A133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TRAFFIC MANAGEMENT 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8049" y="2004342"/>
            <a:ext cx="17751901" cy="81534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7200"/>
                      </a14:imgEffect>
                    </a14:imgLayer>
                  </a14:imgProps>
                </a:ext>
              </a:extLst>
            </a:blip>
            <a:stretch>
              <a:fillRect t="-41" b="-41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82980" y="296192"/>
            <a:ext cx="16276320" cy="787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highlight>
                  <a:srgbClr val="000080"/>
                </a:highlight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97840" y="9561200"/>
            <a:ext cx="4084320" cy="475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06653" y="1117247"/>
            <a:ext cx="873729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A133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TRAFFIC MANAGEMENT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64159" y="5442632"/>
            <a:ext cx="4267362" cy="1227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98"/>
              </a:lnSpc>
              <a:spcBef>
                <a:spcPct val="0"/>
              </a:spcBef>
            </a:pPr>
            <a:r>
              <a:rPr lang="en-US" sz="7141" b="1">
                <a:solidFill>
                  <a:srgbClr val="FA133C"/>
                </a:solidFill>
                <a:latin typeface="Dynamo Condensed Bold"/>
                <a:ea typeface="Dynamo Condensed Bold"/>
                <a:cs typeface="Dynamo Condensed Bold"/>
                <a:sym typeface="Dynamo Condensed Bold"/>
              </a:rPr>
              <a:t>AI SIGNAL 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227308" y="2262785"/>
            <a:ext cx="15681960" cy="6995515"/>
          </a:xfrm>
          <a:custGeom>
            <a:avLst/>
            <a:gdLst/>
            <a:ahLst/>
            <a:cxnLst/>
            <a:rect l="l" t="t" r="r" b="b"/>
            <a:pathLst>
              <a:path w="10532072" h="4185502">
                <a:moveTo>
                  <a:pt x="0" y="0"/>
                </a:moveTo>
                <a:lnTo>
                  <a:pt x="10532072" y="0"/>
                </a:lnTo>
                <a:lnTo>
                  <a:pt x="10532072" y="4185501"/>
                </a:lnTo>
                <a:lnTo>
                  <a:pt x="0" y="41855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3836" b="-15959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197840" y="9561200"/>
            <a:ext cx="4084320" cy="475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2CA8C8-A268-3887-7951-8681E5B0E5FD}"/>
              </a:ext>
            </a:extLst>
          </p:cNvPr>
          <p:cNvSpPr txBox="1"/>
          <p:nvPr/>
        </p:nvSpPr>
        <p:spPr>
          <a:xfrm>
            <a:off x="6549008" y="474702"/>
            <a:ext cx="503855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chemeClr val="accent2">
                    <a:lumMod val="75000"/>
                  </a:schemeClr>
                </a:solidFill>
                <a:highlight>
                  <a:srgbClr val="000080"/>
                </a:highlight>
              </a:rPr>
              <a:t>The working</a:t>
            </a:r>
            <a:endParaRPr lang="en-IN" sz="6600" dirty="0">
              <a:solidFill>
                <a:schemeClr val="accent2">
                  <a:lumMod val="75000"/>
                </a:schemeClr>
              </a:solidFill>
              <a:highlight>
                <a:srgbClr val="000080"/>
              </a:highlight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6D3D7-B200-D333-74A6-5FBD37EFD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EC0E40-2480-CAAD-25DF-366032B89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3538" y="3429000"/>
            <a:ext cx="5101595" cy="651510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Emergency vehicle passing in this situation.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We using the smart ai system it will help to clear </a:t>
            </a:r>
            <a:r>
              <a:rPr lang="en-US" dirty="0" err="1"/>
              <a:t>taffic</a:t>
            </a:r>
            <a:r>
              <a:rPr lang="en-US" dirty="0"/>
              <a:t> and we think how the emergency vehicle on road.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We using the </a:t>
            </a:r>
            <a:r>
              <a:rPr lang="en-US" dirty="0" err="1"/>
              <a:t>rsu</a:t>
            </a:r>
            <a:r>
              <a:rPr lang="en-US" dirty="0"/>
              <a:t> sensor by passing the emergency vehicle.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The first signal pass the wireless communication  and clear the traffic.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/>
              <a:t>While the emergency vehicle passing the signal pass to the next signal and clear the traffic.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/>
              <a:t>The RMS full form is(remote sensing module).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>
          <a:xfrm>
            <a:off x="5943600" y="1790700"/>
            <a:ext cx="11963400" cy="8153400"/>
          </a:xfrm>
          <a:custGeom>
            <a:avLst/>
            <a:gdLst/>
            <a:ahLst/>
            <a:cxnLst/>
            <a:rect l="l" t="t" r="r" b="b"/>
            <a:pathLst>
              <a:path w="7657377" h="3459390">
                <a:moveTo>
                  <a:pt x="0" y="0"/>
                </a:moveTo>
                <a:lnTo>
                  <a:pt x="7657377" y="0"/>
                </a:lnTo>
                <a:lnTo>
                  <a:pt x="7657377" y="3459391"/>
                </a:lnTo>
                <a:lnTo>
                  <a:pt x="0" y="34593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599" b="-4599"/>
            </a:stretch>
          </a:blipFill>
          <a:ln w="57150">
            <a:solidFill>
              <a:schemeClr val="tx1"/>
            </a:solidFill>
          </a:ln>
        </p:spPr>
        <p:txBody>
          <a:bodyPr/>
          <a:lstStyle/>
          <a:p>
            <a:endParaRPr lang="en-IN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95930CDD-A903-064E-EC49-6CA3CFD29E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2905399"/>
              </p:ext>
            </p:extLst>
          </p:nvPr>
        </p:nvGraphicFramePr>
        <p:xfrm>
          <a:off x="602141" y="1121523"/>
          <a:ext cx="5102225" cy="27861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2473703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28FEA-5A00-3B52-7FDA-4300218E1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33394"/>
            <a:ext cx="7639359" cy="2362212"/>
          </a:xfrm>
          <a:effectLst>
            <a:innerShdw blurRad="114300">
              <a:prstClr val="black"/>
            </a:innerShdw>
          </a:effectLst>
        </p:spPr>
        <p:txBody>
          <a:bodyPr/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highlight>
                  <a:srgbClr val="000080"/>
                </a:highlight>
              </a:rPr>
              <a:t>SOFTWARE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7B48198-0E90-63DF-C62F-C0B06835380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00" r="15000"/>
          <a:stretch>
            <a:fillRect/>
          </a:stretch>
        </p:blipFill>
        <p:spPr>
          <a:xfrm>
            <a:off x="10287000" y="1714500"/>
            <a:ext cx="4800600" cy="685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5B4BFD-7994-B2D7-0B9B-04AC5DA33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3924300"/>
            <a:ext cx="7627469" cy="2057400"/>
          </a:xfrm>
        </p:spPr>
        <p:txBody>
          <a:bodyPr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4400" dirty="0">
                <a:solidFill>
                  <a:schemeClr val="bg1"/>
                </a:solidFill>
              </a:rPr>
              <a:t>python is a language to create a AI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4400" dirty="0">
                <a:solidFill>
                  <a:schemeClr val="bg1"/>
                </a:solidFill>
              </a:rPr>
              <a:t>We use python because it is  high level interpreter language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IN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783245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4D6860-1077-453C-2F6B-669F06DED162}"/>
              </a:ext>
            </a:extLst>
          </p:cNvPr>
          <p:cNvSpPr/>
          <p:nvPr/>
        </p:nvSpPr>
        <p:spPr>
          <a:xfrm>
            <a:off x="3848100" y="3924300"/>
            <a:ext cx="10591800" cy="92333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  <a:reflection blurRad="6350" stA="55000" endA="50" endPos="85000" dist="60007" dir="5400000" sy="-100000" algn="bl" rotWithShape="0"/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09328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114</TotalTime>
  <Words>261</Words>
  <Application>Microsoft Office PowerPoint</Application>
  <PresentationFormat>Custom</PresentationFormat>
  <Paragraphs>61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Canva Sans Bold</vt:lpstr>
      <vt:lpstr>Arial</vt:lpstr>
      <vt:lpstr>Times New Roman Bold</vt:lpstr>
      <vt:lpstr>Calibri</vt:lpstr>
      <vt:lpstr>Wingdings 3</vt:lpstr>
      <vt:lpstr>Courier New</vt:lpstr>
      <vt:lpstr>Century Gothic</vt:lpstr>
      <vt:lpstr>Wingdings</vt:lpstr>
      <vt:lpstr>Dynamo Condensed Bold</vt:lpstr>
      <vt:lpstr>Arimo Bold</vt:lpstr>
      <vt:lpstr>Ion</vt:lpstr>
      <vt:lpstr>WELCOME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SOFTWARE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SIH2024_IDEA_Presentation_Format.pptx</dc:title>
  <dc:creator>Imran</dc:creator>
  <cp:lastModifiedBy>imranss1309@outlook.com</cp:lastModifiedBy>
  <cp:revision>4</cp:revision>
  <dcterms:created xsi:type="dcterms:W3CDTF">2006-08-16T00:00:00Z</dcterms:created>
  <dcterms:modified xsi:type="dcterms:W3CDTF">2025-02-26T13:08:47Z</dcterms:modified>
  <dc:identifier>DAGPKDYKVbg</dc:identifier>
</cp:coreProperties>
</file>